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D6083-103D-8243-9D62-ECCE62C5F2D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893C7-F23F-FB45-BDAD-9BF91499F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46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55264"/>
            <a:ext cx="9144000" cy="73152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148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Koleroga Disease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Decision Support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&amp; CNN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383280" y="2542032"/>
            <a:ext cx="137160" cy="137160"/>
          </a:xfrm>
          <a:prstGeom prst="ellipse">
            <a:avLst/>
          </a:prstGeom>
          <a:solidFill>
            <a:srgbClr val="1A7F8A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22192" y="2542032"/>
            <a:ext cx="137160" cy="137160"/>
          </a:xfrm>
          <a:prstGeom prst="ellipse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2542032"/>
            <a:ext cx="137160" cy="137160"/>
          </a:xfrm>
          <a:prstGeom prst="ellipse">
            <a:avLst/>
          </a:prstGeom>
          <a:solidFill>
            <a:srgbClr val="1A7F8A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2542032"/>
            <a:ext cx="137160" cy="137160"/>
          </a:xfrm>
          <a:prstGeom prst="ellipse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2542032"/>
            <a:ext cx="137160" cy="137160"/>
          </a:xfrm>
          <a:prstGeom prst="ellipse">
            <a:avLst/>
          </a:prstGeom>
          <a:solidFill>
            <a:srgbClr val="1A7F8A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542032"/>
            <a:ext cx="137160" cy="137160"/>
          </a:xfrm>
          <a:prstGeom prst="ellipse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83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FRD Yield Loss: </a:t>
            </a:r>
            <a:r>
              <a:rPr lang="en-US" sz="1300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50–100%  |  </a:t>
            </a: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Area: </a:t>
            </a:r>
            <a:r>
              <a:rPr lang="en-US" sz="1300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512,266 ha  |  </a:t>
            </a: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Loss: </a:t>
            </a:r>
            <a:r>
              <a:rPr lang="en-US" sz="1300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₹2,000–4,000 Cr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6B8DAE"/>
                </a:solidFill>
                <a:latin typeface="Calibri"/>
                <a:ea typeface="Calibri"/>
                <a:cs typeface="Calibri"/>
              </a:rPr>
              <a:t>Presented by: Sushanth M S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00" dirty="0">
                <a:solidFill>
                  <a:srgbClr val="6B8DAE"/>
                </a:solidFill>
                <a:latin typeface="Calibri"/>
                <a:ea typeface="Calibri"/>
                <a:cs typeface="Calibri"/>
              </a:rPr>
              <a:t>                                   Yashaswini </a:t>
            </a:r>
            <a:r>
              <a:rPr lang="en-US" sz="1200" dirty="0" err="1">
                <a:solidFill>
                  <a:srgbClr val="6B8DAE"/>
                </a:solidFill>
                <a:latin typeface="Calibri"/>
                <a:ea typeface="Calibri"/>
                <a:cs typeface="Calibri"/>
              </a:rPr>
              <a:t>Kuriyavar</a:t>
            </a:r>
            <a:endParaRPr lang="en-US" sz="1200" dirty="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6B8DAE"/>
                </a:solidFill>
                <a:latin typeface="Calibri"/>
                <a:ea typeface="Calibri"/>
                <a:cs typeface="Calibri"/>
              </a:rPr>
              <a:t>                   Shwetha C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6B8DAE"/>
                </a:solidFill>
                <a:latin typeface="Calibri"/>
                <a:ea typeface="Calibri"/>
                <a:cs typeface="Calibri"/>
              </a:rPr>
              <a:t>  Course: AIML  |  April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103120" cy="64008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371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Koleroga / FRD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143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Koleroga (Fruit Rot Disease) — most devastating disease of arecanut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Phytophthora meadii McRae (oomycete, not a true fungus)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since at least 1906; formally described by Coleman (1910)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#1 globally — 512,266 ha area, 827,639 tonnes production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+ Kerala = 70%+ of India's cultivated arecanut area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during SW monsoon (June–September); optimal 18–28°C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1051560"/>
            <a:ext cx="3108960" cy="102412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0972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60720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(Endemic Zones)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240280"/>
            <a:ext cx="3108960" cy="1024128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22860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₹15,000 Cr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28163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Arecanut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3429000"/>
            <a:ext cx="3108960" cy="102412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347472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3.5M+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0720" y="4005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Families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8105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457200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Slow &amp; Dangerous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of 12–16m tall palms during monsoon — hazardous and labor-intensive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88920" cy="18105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788920" cy="457200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789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Late Identification = Crop Loss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spreads 15–20 days post-monsoon onset; delayed action means 50–100% fruit drop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18105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789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No Real-Time Prediction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55448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automated, accurate, farmer-accessible disease forecasting and advisory systems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9718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Challenges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3319272"/>
            <a:ext cx="8503920" cy="4572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64992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copper fungicides → soil accumulation; metalaxyl resistance first noted 2015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labor cost; A2 mating type dominance → complex pathogen population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AI-integrated tools for real-time precision spraying recommendations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914400" cy="1719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97280"/>
            <a:ext cx="914400" cy="54864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25880" y="129844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Disease Detection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810512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Koleroga at initial stages before widespread spread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82312" y="109728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097280"/>
            <a:ext cx="914400" cy="1719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82312" y="1097280"/>
            <a:ext cx="914400" cy="54864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600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88152" y="129844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Prediction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88152" y="1810512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disease risk level: Low / Medium / High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99232"/>
            <a:ext cx="914400" cy="1719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999232"/>
            <a:ext cx="914400" cy="54864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0215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325880" y="320040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Recommendations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712464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timely, specific farm-level treatment guidance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82312" y="299923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2999232"/>
            <a:ext cx="914400" cy="1719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999232"/>
            <a:ext cx="914400" cy="54864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3502152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788152" y="320040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+ Random Forest Integration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88152" y="3712464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image intelligence with weather analytics</a:t>
            </a:r>
            <a:endParaRPr lang="en-US" sz="1300" dirty="0"/>
          </a:p>
        </p:txBody>
      </p:sp>
      <p:sp>
        <p:nvSpPr>
          <p:cNvPr id="29" name="TextBox 28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Severity Database 2015–2025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103120" cy="64008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371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CPCRI + Field Data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5643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FRD Incidence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PDI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Metalaxyl resistance first noted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Above-avg SW monsoon; Maidan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outbreak — CPCRI emergency advisories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35–41★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EPIDEMIC — 115 fallen nuts/palm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 restricted spraying; moderate losses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FAUB trials; biocontrol momentum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RF-ANN forecasting model validated (R²=0.89)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mgmt reducing incidence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Frontiers in Plant Science, Balanagouda et al. 2023 — untreated control plots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 (DSS)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029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ML models, environmental data, and image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forecasting: RF-ANN model achieved R² = 0.89 (2024–25)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IoT sensors for real-time weather 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3063240"/>
            <a:ext cx="502920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154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 DSS Output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Status (Healthy / Infected)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(Low / Medium / High)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(fungicide / drainage / removal)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23560" y="1051560"/>
            <a:ext cx="3200400" cy="676656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07899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Input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1728216"/>
            <a:ext cx="73152" cy="237744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1837944"/>
            <a:ext cx="3200400" cy="676656"/>
          </a:xfrm>
          <a:prstGeom prst="rect">
            <a:avLst/>
          </a:prstGeom>
          <a:solidFill>
            <a:srgbClr val="1A7F8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186537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CNN Processing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86600" y="2514600"/>
            <a:ext cx="73152" cy="237744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2624328"/>
            <a:ext cx="3200400" cy="676656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26517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  Weather Analysis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86600" y="3300984"/>
            <a:ext cx="73152" cy="237744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3410712"/>
            <a:ext cx="3200400" cy="676656"/>
          </a:xfrm>
          <a:prstGeom prst="rect">
            <a:avLst/>
          </a:prstGeom>
          <a:solidFill>
            <a:srgbClr val="1A7F8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34381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DSS Decision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86600" y="4087368"/>
            <a:ext cx="73152" cy="237744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4197096"/>
            <a:ext cx="3200400" cy="676656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0" y="422452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Farmer Action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103120" cy="64008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371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 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114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4114800" cy="475488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📷  Image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 images — Healthy samples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 images — Infected (FRD) samples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CPCRI field-collected specimens (Karnataka, Kerala)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monsoon lighting &amp; field conditions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dataset for CNN robustness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14800" cy="3657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4114800" cy="47548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🌦  Weather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 — daily / weekly intensity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Relative Humidity (%) — key predictor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Temperature (°C) — 18–28°C favors FRD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CPCRI + IMD + AICRP on Palms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 dataset 2015–2025 verified</a:t>
            </a:r>
            <a:endParaRPr lang="en-US" sz="1300" dirty="0"/>
          </a:p>
        </p:txBody>
      </p:sp>
      <p:sp>
        <p:nvSpPr>
          <p:cNvPr id="15" name="TextBox 14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"/>
            <a:ext cx="2103120" cy="64008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371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Diagram</a:t>
            </a:r>
            <a:endParaRPr lang="en-US" sz="1100" dirty="0"/>
          </a:p>
        </p:txBody>
      </p:sp>
      <p:pic>
        <p:nvPicPr>
          <p:cNvPr id="7" name="Image 0" descr="/tmp/flowchar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05840"/>
            <a:ext cx="374904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0" y="1005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Representation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20640" y="1417320"/>
            <a:ext cx="2377440" cy="548640"/>
          </a:xfrm>
          <a:prstGeom prst="rect">
            <a:avLst/>
          </a:prstGeom>
          <a:solidFill>
            <a:srgbClr val="0D1B2A"/>
          </a:solidFill>
          <a:ln w="25400">
            <a:solidFill>
              <a:srgbClr val="1A7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66360" y="144475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81928" y="1965960"/>
            <a:ext cx="54864" cy="201168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167128"/>
            <a:ext cx="2926080" cy="54864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2167128"/>
            <a:ext cx="54864" cy="256032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17536" y="2167128"/>
            <a:ext cx="54864" cy="256032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3400" y="2423160"/>
            <a:ext cx="2011680" cy="530352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389120" y="2450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2423160"/>
            <a:ext cx="2011680" cy="530352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23760" y="24505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167128"/>
            <a:ext cx="54864" cy="1965960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17536" y="2167128"/>
            <a:ext cx="54864" cy="1481328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43400" y="3090672"/>
            <a:ext cx="201168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4AB8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389120" y="3118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Dataset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78040" y="3090672"/>
            <a:ext cx="201168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4AB8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223760" y="311810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Dataset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73752" y="3621024"/>
            <a:ext cx="54864" cy="274320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44968" y="3621024"/>
            <a:ext cx="54864" cy="274320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9120" y="3895344"/>
            <a:ext cx="1920240" cy="54864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23760" y="3895344"/>
            <a:ext cx="640080" cy="54864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81928" y="3895344"/>
            <a:ext cx="54864" cy="274320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03520" y="4169664"/>
            <a:ext cx="2926080" cy="6217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34924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Combined Output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Model — Image Classification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0292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 designed to classify arecanut images as Healthy or Diseased, validated against CPCRI field-collected specimens.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633472"/>
            <a:ext cx="502920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7919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679192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— Resize, normalize &amp; augment input images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456432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0215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502152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Conv layers identify visual disease patterns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279392"/>
            <a:ext cx="502920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32511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4325112"/>
            <a:ext cx="3749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FC layers output Healthy / Diseased label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1051560"/>
            <a:ext cx="32461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18872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 CNN Output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1828800"/>
            <a:ext cx="2880360" cy="804672"/>
          </a:xfrm>
          <a:prstGeom prst="rect">
            <a:avLst/>
          </a:prstGeom>
          <a:solidFill>
            <a:srgbClr val="3DD6A3"/>
          </a:solidFill>
          <a:ln w="12700">
            <a:solidFill>
              <a:srgbClr val="3DD6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828800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HEALTHY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0" y="2926080"/>
            <a:ext cx="2880360" cy="80467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926080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DISEASED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15000" y="404164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using CPCRI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areacanut image 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augmentation</a:t>
            </a:r>
            <a:endParaRPr 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Severity Prediction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029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 algorithm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multiple decision trees. An RF-ANN hybrid model achieved R² = 0.89 at a 2-week forecast lead time (CPCRI/UAHS study, 2024–25).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2743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Inputs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31546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Rainfall, evening humidity, max temperature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incidence level from CNN output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context (region, season, year)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051560"/>
            <a:ext cx="32461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18872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 Severity Output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1810512"/>
            <a:ext cx="2880360" cy="786384"/>
          </a:xfrm>
          <a:prstGeom prst="rect">
            <a:avLst/>
          </a:prstGeom>
          <a:solidFill>
            <a:srgbClr val="3DD6A3"/>
          </a:solidFill>
          <a:ln w="12700">
            <a:solidFill>
              <a:srgbClr val="3DD6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81051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9520" y="1901952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15–22%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798064"/>
            <a:ext cx="2880360" cy="786384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798064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89520" y="2889504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22–32%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785616"/>
            <a:ext cx="2880360" cy="786384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78561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89520" y="3877056"/>
            <a:ext cx="914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35–41%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404164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2015–2025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severity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(CPCRI annual reports)</a:t>
            </a:r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Workflow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15727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Arecanut photo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12848" y="1810512"/>
            <a:ext cx="320040" cy="109728"/>
          </a:xfrm>
          <a:prstGeom prst="rect">
            <a:avLst/>
          </a:prstGeom>
          <a:solidFill>
            <a:srgbClr val="6B8DAE"/>
          </a:solidFill>
          <a:ln w="12700">
            <a:solidFill>
              <a:srgbClr val="6B8D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0592" y="1097280"/>
            <a:ext cx="1965960" cy="1572768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188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96312" y="205740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320040" cy="109728"/>
          </a:xfrm>
          <a:prstGeom prst="rect">
            <a:avLst/>
          </a:prstGeom>
          <a:solidFill>
            <a:srgbClr val="6B8DAE"/>
          </a:solidFill>
          <a:ln w="12700">
            <a:solidFill>
              <a:srgbClr val="6B8D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097280"/>
            <a:ext cx="1965960" cy="157276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188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  Weather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Severity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72584" y="205740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inputs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65392" y="1810512"/>
            <a:ext cx="320040" cy="109728"/>
          </a:xfrm>
          <a:prstGeom prst="rect">
            <a:avLst/>
          </a:prstGeom>
          <a:solidFill>
            <a:srgbClr val="6B8DAE"/>
          </a:solidFill>
          <a:ln w="12700">
            <a:solidFill>
              <a:srgbClr val="6B8D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1097280"/>
            <a:ext cx="1965960" cy="15727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1887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Random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48856" y="205740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severity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8595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44368"/>
            <a:ext cx="164592" cy="17830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35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Combined Decision Support 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5478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detects disease  →  </a:t>
            </a:r>
            <a:r>
              <a:rPr lang="en-US" sz="1400" b="1" dirty="0">
                <a:solidFill>
                  <a:srgbClr val="1A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severity  → 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recommends farmer action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Detection Achieved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identified pre-epidemic using image + weather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18688" y="105156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51560"/>
            <a:ext cx="2788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43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18688" y="1828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Effort Reduced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395728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 replaces hazardous palm climbing inspection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51560"/>
            <a:ext cx="2788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43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63056" y="1828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Timely Farmer 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2395728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aligned with 15–20 day post-monsoon onset window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823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RF-ANN hybrid model R²=0.89 | FRD epidemic peak 2019: 40.93% PDI | Source: Balanagouda et al., Frontiers in Plant Science 2023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11556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96012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170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Appropriate Fungicides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09344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Bordeaux Mixture (60–75% control) or Fosetyl-Al FAUB (72–82% control) based on severity level. Avoid metalaxyl — resistance documented since 2015.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59152"/>
            <a:ext cx="96012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5059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24505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Field Drainage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89504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standing water that activates Phytophthora sporangia. Intermittent rain + humidity &gt;85% is the most dangerous condition.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39312"/>
            <a:ext cx="8595360" cy="111556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9312"/>
            <a:ext cx="96012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30752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Infected Nuts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169664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fallen nuts immediately — chlamydospores in soil serve as primary inoculum for the next season's epidemic cycle.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823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CPCRI recommendations | Gangadhara Naik et al. 2019 | Balanagouda et al. 2022–23 — Frontiers in Plant Science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353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Detection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8470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image + weather processing in seconds vs. weeks of manual monitoring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6592" y="109728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9472" y="141732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4447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79592" y="13533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Prediction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79592" y="18470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RF-ANN model: R²=0.89 at 2-week lead time — proven on Karnataka field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3756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649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👩‍🌾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2735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76732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smallholder farmers; extendable to mobile app (future scope)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301752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3337560"/>
            <a:ext cx="822960" cy="8229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3649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79592" y="32735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79592" y="376732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across coconut, pepper, coffee — all affected by Koleroga-type diseases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📱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Integration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Android/iOS for on-field real-time advisory — scaling RF-ANN forecasting model to Kisan Call Centres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51560"/>
            <a:ext cx="2788920" cy="1188720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704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🔌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10128" y="2377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IoT-Based Monitoring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30175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IMD/IoT weather sensors for automated real-time input; replace manual weather data collection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51560"/>
            <a:ext cx="2788920" cy="118872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704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🌾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54496" y="2377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Multi-Crop Expansion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0216" y="301752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coconut (P. palmivora), black pepper, coffee (C. koleroga Thread Blight) — same pathogen family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6400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64592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88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improves agricultural productivity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5910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RF-ANN forecasting with R²=0.89 demonstrates AI can detect FRD 2 weeks in advance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164592" cy="1115568"/>
          </a:xfrm>
          <a:prstGeom prst="rect">
            <a:avLst/>
          </a:prstGeom>
          <a:solidFill>
            <a:srgbClr val="1A4F7A"/>
          </a:solidFill>
          <a:ln w="12700">
            <a:solidFill>
              <a:srgbClr val="1A4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68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DSS reduces crop losses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+ Kerala lose ₹2,000–4,000 Cr annually; DSS enables timely intervention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57600"/>
            <a:ext cx="164592" cy="1115568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7490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+ Random Forest = robust solution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41513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detection + weather-based severity prediction provides complete decision support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disease losses below 10% through science-driven integrated management — ICAR/CPCRI vision 2025–2035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A"/>
          </a:solidFill>
          <a:ln w="12700">
            <a:solidFill>
              <a:srgbClr val="1A7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18470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09344"/>
            <a:ext cx="9144000" cy="64008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93008"/>
            <a:ext cx="9144000" cy="64008"/>
          </a:xfrm>
          <a:prstGeom prst="rect">
            <a:avLst/>
          </a:prstGeom>
          <a:solidFill>
            <a:srgbClr val="4AB8C4"/>
          </a:solidFill>
          <a:ln w="12700">
            <a:solidFill>
              <a:srgbClr val="4AB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28600"/>
            <a:ext cx="9144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🙏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65760" y="35844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A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Koleroga Disease Detection &amp; Decision Support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42245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Random Forest  |  AIML Course  |  April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CPCRI Annual Reports | Frontiers in Plant Science | Indian Phytopathology | ScienceDirect 2015–2025</a:t>
            </a:r>
            <a:endParaRPr lang="en-US" sz="900" dirty="0"/>
          </a:p>
        </p:txBody>
      </p:sp>
      <p:sp>
        <p:nvSpPr>
          <p:cNvPr id="11" name="TextBox 10"/>
          <p:cNvSpPr txBox="1"/>
          <p:nvPr/>
        </p:nvSpPr>
        <p:spPr>
          <a:xfrm>
            <a:off x="7955280" y="44119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/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Koleroga Disease Detection &amp; Decision Support System</dc:title>
  <dc:subject>PptxGenJS Presentation</dc:subject>
  <dc:creator>PptxGenJS</dc:creator>
  <cp:lastModifiedBy>sushanth ms</cp:lastModifiedBy>
  <cp:revision>135</cp:revision>
  <dcterms:created xsi:type="dcterms:W3CDTF">2026-04-11T10:46:01Z</dcterms:created>
  <dcterms:modified xsi:type="dcterms:W3CDTF">2026-04-15T04:57:07Z</dcterms:modified>
</cp:coreProperties>
</file>